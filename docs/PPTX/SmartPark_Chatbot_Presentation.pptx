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05F73"/>
                </a:solidFill>
                <a:latin typeface="Arial"/>
              </a:defRPr>
            </a:pPr>
            <a:r>
              <a:t>SmartPark Chatbot</a:t>
            </a:r>
          </a:p>
          <a:p>
            <a:pPr>
              <a:spcBef>
                <a:spcPts val="1000"/>
              </a:spcBef>
              <a:defRPr sz="2200">
                <a:solidFill>
                  <a:srgbClr val="212529"/>
                </a:solidFill>
                <a:latin typeface="Calibri"/>
              </a:defRPr>
            </a:pPr>
            <a:r>
              <a:t>Enterprise RAG-Powered Parking System &amp; Multi-Agent Orchestration</a:t>
            </a:r>
          </a:p>
          <a:p>
            <a:pPr>
              <a:spcBef>
                <a:spcPts val="4000"/>
              </a:spcBef>
              <a:defRPr sz="1400">
                <a:solidFill>
                  <a:srgbClr val="005F73"/>
                </a:solidFill>
                <a:latin typeface="Calibri"/>
              </a:defRPr>
            </a:pPr>
            <a:r>
              <a:t>Conversational RAG • LangGraph Workflows • FastAPI MCP • Human-in-the-Loop</a:t>
            </a:r>
            <a:br/>
            <a:r>
              <a:t>Presenter: Rishabh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F73"/>
                </a:solidFill>
                <a:latin typeface="Arial"/>
              </a:defRPr>
            </a:pPr>
            <a:r>
              <a:t>Project Delivery Plan</a:t>
            </a:r>
          </a:p>
          <a:p>
            <a:pPr>
              <a:defRPr sz="1400">
                <a:solidFill>
                  <a:srgbClr val="212529"/>
                </a:solidFill>
                <a:latin typeface="Calibri"/>
              </a:defRPr>
            </a:pPr>
            <a:r>
              <a:t>Phased Architectural Evolution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94D2BD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4114800"/>
          </a:xfrm>
          <a:prstGeom prst="round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F73"/>
                </a:solidFill>
                <a:latin typeface="Arial"/>
              </a:defRPr>
            </a:pPr>
            <a:r>
              <a:t>STAGE 1</a:t>
            </a:r>
          </a:p>
          <a:p>
            <a:pPr>
              <a:spcBef>
                <a:spcPts val="500"/>
              </a:spcBef>
              <a:defRPr sz="1600" b="1">
                <a:solidFill>
                  <a:srgbClr val="212529"/>
                </a:solidFill>
                <a:latin typeface="Arial"/>
              </a:defRPr>
            </a:pPr>
            <a:r>
              <a:t>Core Engine &amp; CI/CD</a:t>
            </a:r>
          </a:p>
          <a:p>
            <a:pPr>
              <a:spcBef>
                <a:spcPts val="15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RAG (Milvus + Azure OpenAI)</a:t>
            </a:r>
            <a:br/>
            <a:r>
              <a:t>• Intent Orchestration</a:t>
            </a:r>
            <a:br/>
            <a:r>
              <a:t>• GitHub Actions CI/CD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645920"/>
            <a:ext cx="2560320" cy="4114800"/>
          </a:xfrm>
          <a:prstGeom prst="round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F73"/>
                </a:solidFill>
                <a:latin typeface="Arial"/>
              </a:defRPr>
            </a:pPr>
            <a:r>
              <a:t>STAGE 2</a:t>
            </a:r>
          </a:p>
          <a:p>
            <a:pPr>
              <a:spcBef>
                <a:spcPts val="500"/>
              </a:spcBef>
              <a:defRPr sz="1600" b="1">
                <a:solidFill>
                  <a:srgbClr val="212529"/>
                </a:solidFill>
                <a:latin typeface="Arial"/>
              </a:defRPr>
            </a:pPr>
            <a:r>
              <a:t>Persistence &amp; Alerts</a:t>
            </a:r>
          </a:p>
          <a:p>
            <a:pPr>
              <a:spcBef>
                <a:spcPts val="15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SQLite Relational Database</a:t>
            </a:r>
            <a:br/>
            <a:r>
              <a:t>• Static conversation logs</a:t>
            </a:r>
            <a:br/>
            <a:r>
              <a:t>• Automated Admin Email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114800"/>
          </a:xfrm>
          <a:prstGeom prst="round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F73"/>
                </a:solidFill>
                <a:latin typeface="Arial"/>
              </a:defRPr>
            </a:pPr>
            <a:r>
              <a:t>STAGE 3</a:t>
            </a:r>
          </a:p>
          <a:p>
            <a:pPr>
              <a:spcBef>
                <a:spcPts val="500"/>
              </a:spcBef>
              <a:defRPr sz="1600" b="1">
                <a:solidFill>
                  <a:srgbClr val="212529"/>
                </a:solidFill>
                <a:latin typeface="Arial"/>
              </a:defRPr>
            </a:pPr>
            <a:r>
              <a:t>MCP Integration</a:t>
            </a:r>
          </a:p>
          <a:p>
            <a:pPr>
              <a:spcBef>
                <a:spcPts val="15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Python + FastAPI MCP Server</a:t>
            </a:r>
            <a:br/>
            <a:r>
              <a:t>• Secure File Engine Recording</a:t>
            </a:r>
            <a:br/>
            <a:r>
              <a:t>• Strict Format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560320" cy="4114800"/>
          </a:xfrm>
          <a:prstGeom prst="round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F73"/>
                </a:solidFill>
                <a:latin typeface="Arial"/>
              </a:defRPr>
            </a:pPr>
            <a:r>
              <a:t>STAGE 4</a:t>
            </a:r>
          </a:p>
          <a:p>
            <a:pPr>
              <a:spcBef>
                <a:spcPts val="500"/>
              </a:spcBef>
              <a:defRPr sz="1600" b="1">
                <a:solidFill>
                  <a:srgbClr val="212529"/>
                </a:solidFill>
                <a:latin typeface="Arial"/>
              </a:defRPr>
            </a:pPr>
            <a:r>
              <a:t>LangGraph Core</a:t>
            </a:r>
          </a:p>
          <a:p>
            <a:pPr>
              <a:spcBef>
                <a:spcPts val="15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Stateful Multi-Agent Graph</a:t>
            </a:r>
            <a:br/>
            <a:r>
              <a:t>• Human-in-the-Loop Interrupt</a:t>
            </a:r>
            <a:br/>
            <a:r>
              <a:t>• End-to-End Integration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F73"/>
                </a:solidFill>
                <a:latin typeface="Arial"/>
              </a:defRPr>
            </a:pPr>
            <a:r>
              <a:t>System Architecture &amp; Intent Routing</a:t>
            </a:r>
          </a:p>
          <a:p>
            <a:pPr>
              <a:defRPr sz="1400">
                <a:solidFill>
                  <a:srgbClr val="212529"/>
                </a:solidFill>
                <a:latin typeface="Calibri"/>
              </a:defRPr>
            </a:pPr>
            <a:r>
              <a:t>LangGraph Stateful Multi-Agent Orchestration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94D2BD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2743200" cy="731520"/>
          </a:xfrm>
          <a:prstGeom prst="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  <a:latin typeface="Calibri"/>
              </a:defRPr>
            </a:pPr>
            <a:r>
              <a:t>User Query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011680"/>
            <a:ext cx="4572000" cy="731520"/>
          </a:xfrm>
          <a:prstGeom prst="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  <a:latin typeface="Calibri"/>
              </a:defRPr>
            </a:pPr>
            <a:r>
              <a:t>Input Security Guardrails</a:t>
            </a:r>
            <a:br/>
            <a:r>
              <a:t>(Checks Injection / Core Vulnerabilities)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11277295" cy="731520"/>
          </a:xfrm>
          <a:prstGeom prst="roundRect">
            <a:avLst/>
          </a:prstGeom>
          <a:solidFill>
            <a:srgbClr val="005F73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Node 1: User Interaction &amp; Classifier Router</a:t>
            </a:r>
            <a:br/>
            <a:r>
              <a:t>(Evaluates Context Intent Prompt via LangGraph)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3474720" cy="822960"/>
          </a:xfrm>
          <a:prstGeom prst="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  <a:latin typeface="Calibri"/>
              </a:defRPr>
            </a:pPr>
            <a:r>
              <a:t>RAG Knowledge Retrieval</a:t>
            </a:r>
            <a:br/>
            <a:r>
              <a:t>(Milvus + text-embedding-3)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030" y="4572000"/>
            <a:ext cx="3474720" cy="822960"/>
          </a:xfrm>
          <a:prstGeom prst="roundRect">
            <a:avLst/>
          </a:prstGeom>
          <a:solidFill>
            <a:srgbClr val="005F73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Node 2: Admin Approval Node</a:t>
            </a:r>
            <a:br/>
            <a:r>
              <a:t>(HITL Interrupt / Email Trigger Alerts)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9775" y="4572000"/>
            <a:ext cx="3474720" cy="822960"/>
          </a:xfrm>
          <a:prstGeom prst="roundRect">
            <a:avLst/>
          </a:prstGeom>
          <a:solidFill>
            <a:srgbClr val="005F73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Node 3: MCP Storage Recorder</a:t>
            </a:r>
            <a:br/>
            <a:r>
              <a:t>(FastAPI Server Write Operations)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  <a:latin typeface="Calibri"/>
              </a:defRPr>
            </a:pPr>
            <a:r>
              <a:t>Output Guardrails (Regex PII Masking) ──&gt; Final Structured Clean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F73"/>
                </a:solidFill>
                <a:latin typeface="Arial"/>
              </a:defRPr>
            </a:pPr>
            <a:r>
              <a:t>Core Technology Stack</a:t>
            </a:r>
          </a:p>
          <a:p>
            <a:pPr>
              <a:defRPr sz="1400">
                <a:solidFill>
                  <a:srgbClr val="212529"/>
                </a:solidFill>
                <a:latin typeface="Calibri"/>
              </a:defRPr>
            </a:pPr>
            <a:r>
              <a:t>System Layer Structural Specifications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94D2BD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790895"/>
              </a:tblGrid>
              <a:tr h="5715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Layer Name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Underlying Technology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Purpose in Architecture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Backend 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Python 3.11+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Core programming logic, system processing, pipeline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RAG Orchestration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LangChain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Constructs modular prompt setups, chain flows, connects retrieval units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AI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Azure OpenAI (GPT-4o)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Context-grounded natural language synthesis and intent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Embedding Model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text-embedding-3-small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Efficient 1536-dimensional semantic vector indexing model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Vector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Milvus (Docker Compose)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Highly scalable database supporting low-latency vector index lookup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CI/CD &amp; Validation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Pytest + GitHub Actions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Continuous integration pipelines running quality checks and validation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Data 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SQLite + File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Structured and unstructured data storage for reservations and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F73"/>
                </a:solidFill>
                <a:latin typeface="Arial"/>
              </a:defRPr>
            </a:pPr>
            <a:r>
              <a:t>Project Setup &amp; Installation Guide (Steps 01-05)</a:t>
            </a:r>
          </a:p>
          <a:p>
            <a:pPr>
              <a:defRPr sz="1400">
                <a:solidFill>
                  <a:srgbClr val="212529"/>
                </a:solidFill>
                <a:latin typeface="Calibri"/>
              </a:defRPr>
            </a:pPr>
            <a:r>
              <a:t>Sequential System Deployment Cards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94D2BD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77295" cy="822960"/>
          </a:xfrm>
          <a:prstGeom prst="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  <a:latin typeface="Calibri"/>
              </a:defRPr>
            </a:pPr>
            <a:r>
              <a:t>01 | Clone Repository  ──&gt;  Code: git clone https://github.com/your-org/smartpark-ai.git</a:t>
            </a:r>
            <a:br/>
            <a:r>
              <a:t>cd smartpark-ai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  <a:latin typeface="Calibri"/>
              </a:defRPr>
            </a:pPr>
            <a:r>
              <a:t>02 | Create Virtual Environment  ──&gt;  Code: python3 -m venv .venv</a:t>
            </a:r>
            <a:br/>
            <a:r>
              <a:t>source .venv/bin/activate  # Windows: .venv\Scripts\activate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822960"/>
          </a:xfrm>
          <a:prstGeom prst="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  <a:latin typeface="Calibri"/>
              </a:defRPr>
            </a:pPr>
            <a:r>
              <a:t>03 | Install Dependencies  ──&gt;  Code: pip install -r requirements.txt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11277295" cy="822960"/>
          </a:xfrm>
          <a:prstGeom prst="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  <a:latin typeface="Calibri"/>
              </a:defRPr>
            </a:pPr>
            <a:r>
              <a:t>04 | Configure Environment Variables  ──&gt;  Code: cp .env.example .env</a:t>
            </a:r>
            <a:br/>
            <a:r>
              <a:t># Edit with Azure OpenAI &amp; Milvus details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03520"/>
            <a:ext cx="11277295" cy="822960"/>
          </a:xfrm>
          <a:prstGeom prst="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  <a:latin typeface="Calibri"/>
              </a:defRPr>
            </a:pPr>
            <a:r>
              <a:t>05 | Start Milvus Vector Database  ──&gt;  Code: cd docker/milvus</a:t>
            </a:r>
            <a:br/>
            <a:r>
              <a:t>docker-compose up -d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F73"/>
                </a:solidFill>
                <a:latin typeface="Arial"/>
              </a:defRPr>
            </a:pPr>
            <a:r>
              <a:t>Project Setup &amp; Installation Guide (Steps 06-10)</a:t>
            </a:r>
          </a:p>
          <a:p>
            <a:pPr>
              <a:defRPr sz="1400">
                <a:solidFill>
                  <a:srgbClr val="212529"/>
                </a:solidFill>
                <a:latin typeface="Calibri"/>
              </a:defRPr>
            </a:pPr>
            <a:r>
              <a:t>Initialization, Execution and Verification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94D2BD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77295" cy="822960"/>
          </a:xfrm>
          <a:prstGeom prst="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  <a:latin typeface="Calibri"/>
              </a:defRPr>
            </a:pPr>
            <a:r>
              <a:t>06 | Initialize DB &amp; Load Docs  ──&gt;  Code: python -m app.rag.index_documents</a:t>
            </a:r>
            <a:br/>
            <a:r>
              <a:t>python -m app.database.init_db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  <a:latin typeface="Calibri"/>
              </a:defRPr>
            </a:pPr>
            <a:r>
              <a:t>07 | Run Chatbot Application  ──&gt;  Code: python main.py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822960"/>
          </a:xfrm>
          <a:prstGeom prst="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  <a:latin typeface="Calibri"/>
              </a:defRPr>
            </a:pPr>
            <a:r>
              <a:t>08 | Run Admin API Gateway  ──&gt;  Code: python admin_api.py  # Run in separate terminal window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11277295" cy="822960"/>
          </a:xfrm>
          <a:prstGeom prst="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  <a:latin typeface="Calibri"/>
              </a:defRPr>
            </a:pPr>
            <a:r>
              <a:t>09 | Execute Unit Test Suites  ──&gt;  Code: pytest tests/ -v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03520"/>
            <a:ext cx="11277295" cy="822960"/>
          </a:xfrm>
          <a:prstGeom prst="rect">
            <a:avLst/>
          </a:prstGeom>
          <a:solidFill>
            <a:srgbClr val="F8F9FA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  <a:latin typeface="Calibri"/>
              </a:defRPr>
            </a:pPr>
            <a:r>
              <a:t>10 | Docker Production Launch  ──&gt;  Code: docker-compose -f docker-compose.yml up -d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F73"/>
                </a:solidFill>
                <a:latin typeface="Arial"/>
              </a:defRPr>
            </a:pPr>
            <a:r>
              <a:t>Code Architecture &amp; Module Mapping</a:t>
            </a:r>
          </a:p>
          <a:p>
            <a:pPr>
              <a:defRPr sz="1400">
                <a:solidFill>
                  <a:srgbClr val="212529"/>
                </a:solidFill>
                <a:latin typeface="Calibri"/>
              </a:defRPr>
            </a:pPr>
            <a:r>
              <a:t>Production Directory Architecture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94D2BD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F73"/>
                </a:solidFill>
                <a:latin typeface="Arial"/>
              </a:defRPr>
            </a:pPr>
            <a:r>
              <a:t>📂 App Core Infrastructure Routing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main.py: Universal entry point for application execution sessions.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chat_orchestrator.py: Routes users between RAG search &amp; Booking Agents.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config.py: Environment variables and configuration systems schema reader.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reservation_agent.py: Collects parameters using Finite State Machine (FSM).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input_filter.py: Runs input guardrail blocks &amp; output masking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F73"/>
                </a:solidFill>
                <a:latin typeface="Arial"/>
              </a:defRPr>
            </a:pPr>
            <a:r>
              <a:t>📂 RAG Knowledge &amp; Microservices Engine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document_loader.py &amp; text_splitter.py: Chunks raw files.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azure_embeddings.py &amp; vector_store.py: Creates embeddings matrix.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milvus_client.py &amp; retriever.py: Executes similarity vector lookups.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rag_chain.py: Merges clean vector contextual data with LLM inference prompts.</a:t>
            </a:r>
          </a:p>
          <a:p>
            <a:pPr>
              <a:spcBef>
                <a:spcPts val="8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admin_api.py / mcp_server.py: FastAPI Model Context Protocol endpoints.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F73"/>
                </a:solidFill>
                <a:latin typeface="Arial"/>
              </a:defRPr>
            </a:pPr>
            <a:r>
              <a:t>RAG Pipeline &amp; Live Knowledge Base Refreshing</a:t>
            </a:r>
          </a:p>
          <a:p>
            <a:pPr>
              <a:defRPr sz="1400">
                <a:solidFill>
                  <a:srgbClr val="212529"/>
                </a:solidFill>
                <a:latin typeface="Calibri"/>
              </a:defRPr>
            </a:pPr>
            <a:r>
              <a:t>Zero-Downtime Data Synchronizations Rule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94D2BD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5F73"/>
                </a:solidFill>
                <a:latin typeface="Arial"/>
              </a:defRPr>
            </a:pPr>
            <a:r>
              <a:t>🔄 Dynamically Refreshing the Vector Knowledge Base: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When parking rates, regulatory terms or active site locations change, update the environment instantly without stopping the chat servers using:</a:t>
            </a:r>
          </a:p>
          <a:p>
            <a:pPr>
              <a:spcBef>
                <a:spcPts val="100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Under-the-Hood Refresh Operations:</a:t>
            </a:r>
            <a:br/>
            <a:r>
              <a:t>1. Ingestion Invalidation: Flushes existing outdated metadata blocks inside the Milvus collections.</a:t>
            </a:r>
            <a:br/>
            <a:r>
              <a:t>2. Vectorization: text-embedding-3-small computes new 1536-dimensional matrix vectors.</a:t>
            </a:r>
            <a:br/>
            <a:r>
              <a:t>3. Commit: Changes sync instantly with live chat router workflows transparently.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11277295" cy="731520"/>
          </a:xfrm>
          <a:prstGeom prst="rect">
            <a:avLst/>
          </a:prstGeom>
          <a:solidFill>
            <a:srgbClr val="F1F3F5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5F73"/>
                </a:solidFill>
                <a:latin typeface="Courier New"/>
              </a:defRPr>
            </a:pPr>
            <a:r>
              <a:t>   python -m app.rag.index_documents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F73"/>
                </a:solidFill>
                <a:latin typeface="Arial"/>
              </a:defRPr>
            </a:pPr>
            <a:r>
              <a:t>Guardrails &amp; Sensitive Data Masking Ecosystem</a:t>
            </a:r>
          </a:p>
          <a:p>
            <a:pPr>
              <a:defRPr sz="1400">
                <a:solidFill>
                  <a:srgbClr val="212529"/>
                </a:solidFill>
                <a:latin typeface="Calibri"/>
              </a:defRPr>
            </a:pPr>
            <a:r>
              <a:t>Enterprise Inbound and Outbound Core Security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94D2BD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F73"/>
                </a:solidFill>
                <a:latin typeface="Arial"/>
              </a:defRPr>
            </a:pPr>
            <a:r>
              <a:t>🛡️ Input Level Prompt-Layer Protections</a:t>
            </a:r>
          </a:p>
          <a:p>
            <a:pPr>
              <a:spcBef>
                <a:spcPts val="5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Drops jailbreak attempts and system instructions override injection payloads.</a:t>
            </a:r>
            <a:br/>
            <a:r>
              <a:t>• Restricts internal queries targeted at exfiltrating multi-tenant data contracts (e.g., 'Show me all customer reservations').</a:t>
            </a:r>
          </a:p>
          <a:p>
            <a:pPr>
              <a:spcBef>
                <a:spcPts val="2000"/>
              </a:spcBef>
              <a:defRPr sz="1600" b="1">
                <a:solidFill>
                  <a:srgbClr val="005F73"/>
                </a:solidFill>
                <a:latin typeface="Arial"/>
              </a:defRPr>
            </a:pPr>
            <a:r>
              <a:t>👁️ Real-Time Output Masking Engine (PII Protection)</a:t>
            </a:r>
          </a:p>
          <a:p>
            <a:pPr>
              <a:spcBef>
                <a:spcPts val="5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A high-speed regex-driven pipeline parses final inference strings right before client interface injection to strip out private customer data clusters:</a:t>
            </a:r>
            <a:br/>
            <a:r>
              <a:t>  - Vehicle Registration Parameters Masked -&gt; (e.g., DL 3C XX XXXX)</a:t>
            </a:r>
            <a:br/>
            <a:r>
              <a:t>  - Identity Metrics Stripped -&gt; Financial Payment Cards, Phone Records, Personal Email Addresses, Driver Licenses.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F73"/>
                </a:solidFill>
                <a:latin typeface="Arial"/>
              </a:defRPr>
            </a:pPr>
            <a:r>
              <a:t>Stage 3: FastAPI Model Context Protocol (MCP) Server</a:t>
            </a:r>
          </a:p>
          <a:p>
            <a:pPr>
              <a:defRPr sz="1400">
                <a:solidFill>
                  <a:srgbClr val="212529"/>
                </a:solidFill>
                <a:latin typeface="Calibri"/>
              </a:defRPr>
            </a:pPr>
            <a:r>
              <a:t>Isolated Microservice Data Ingestion &amp; Storage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94D2BD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Purpose-Built Service: Deploys a distinct python microservice layer over FastAPI optimized to track confirmed logging.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Strict Write Protocols: Enforces specific flat-file layouts upon receipt of valid data contracts.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File Formatting Standard: Entries are written explicitly following a structured data boundary pattern:</a:t>
            </a:r>
            <a:br/>
            <a:r>
              <a:t>   Name | Car Number | Reservation Period | Approval Time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Security Assertions: Implements API header authorization tokens (X-MCP-Token) to safeguard transactional entrypoints from anonymous external injections.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Resilient Local Fallback: If network timeouts occur, a local Python file tool call hook acts as a processing fail-safe.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F73"/>
                </a:solidFill>
                <a:latin typeface="Arial"/>
              </a:defRPr>
            </a:pPr>
            <a:r>
              <a:t>Stage 4: Stateful Multi-Agent LangGraph Integration</a:t>
            </a:r>
          </a:p>
          <a:p>
            <a:pPr>
              <a:defRPr sz="1400">
                <a:solidFill>
                  <a:srgbClr val="212529"/>
                </a:solidFill>
                <a:latin typeface="Calibri"/>
              </a:defRPr>
            </a:pPr>
            <a:r>
              <a:t>Centralized State-Machine Logic Architecture Topology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94D2BD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State Engine Architecture: Translates core code elements into manageable nodes with unified schema data contracts passing through edges.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Node 1 - User Interaction &amp; Routing: Executes context parsing, dynamically selecting a RAG lookup or launching reservation tracks.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Node 2 - Administrator Approval (HITL Hook): Implements true Human-in-the-Loop system suspension. Holds state execution in a 'Pending' variable array and triggers admin email notification routines.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Node 3 - Data Recording Gateway: Triggered automatically upon verification to packet structures down to the FastAPI MCP backend.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  <a:latin typeface="Calibri"/>
              </a:defRPr>
            </a:pPr>
            <a:r>
              <a:t>• Stability Assertions: End-to-end conditional routing guarantees predictable graph traversals even across complex parameter inputs.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F73"/>
                </a:solidFill>
                <a:latin typeface="Arial"/>
              </a:defRPr>
            </a:pPr>
            <a:r>
              <a:t>System Verification &amp; High-Throughput Load Testing</a:t>
            </a:r>
          </a:p>
          <a:p>
            <a:pPr>
              <a:defRPr sz="1400">
                <a:solidFill>
                  <a:srgbClr val="212529"/>
                </a:solidFill>
                <a:latin typeface="Calibri"/>
              </a:defRPr>
            </a:pPr>
            <a:r>
              <a:t>Algorithmic Precision Checks and Edge Failure Load Stress Assessments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94D2BD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F73"/>
                </a:solidFill>
                <a:latin typeface="Arial"/>
              </a:defRPr>
            </a:pPr>
            <a:r>
              <a:t>📉 Algorithmic Evaluation Suites (rag_evaluation.py)</a:t>
            </a:r>
          </a:p>
          <a:p>
            <a:pPr>
              <a:spcBef>
                <a:spcPts val="5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Precision Indexing: Evaluates retrieved vector text files to verify alignment and prevent non-relevant background injection.</a:t>
            </a:r>
            <a:br/>
            <a:r>
              <a:t>• Recall Indexing: Confirms no structural compliance or policy details were omitted during the search context assembly step.</a:t>
            </a:r>
          </a:p>
          <a:p>
            <a:pPr>
              <a:spcBef>
                <a:spcPts val="2000"/>
              </a:spcBef>
              <a:defRPr sz="1600" b="1">
                <a:solidFill>
                  <a:srgbClr val="005F73"/>
                </a:solidFill>
                <a:latin typeface="Arial"/>
              </a:defRPr>
            </a:pPr>
            <a:r>
              <a:t>⚡ Stress Verification &amp; High-Volume Operations Analysis</a:t>
            </a:r>
          </a:p>
          <a:p>
            <a:pPr>
              <a:spcBef>
                <a:spcPts val="500"/>
              </a:spcBef>
              <a:defRPr sz="1300">
                <a:solidFill>
                  <a:srgbClr val="212529"/>
                </a:solidFill>
                <a:latin typeface="Calibri"/>
              </a:defRPr>
            </a:pPr>
            <a:r>
              <a:t>• Dialogue Mode Integrity: Validates intent classification router processing benchmarks under high parallel query requests.</a:t>
            </a:r>
            <a:br/>
            <a:r>
              <a:t>• HITL Escalation Queue Endurance: Verifies server memory bounds while concurrently holding multiple open booking requests in 'Pending' state.</a:t>
            </a:r>
            <a:br/>
            <a:r>
              <a:t>• FastAPI MCP Concurrency Safety: Stress-tests file locks and SQLite storage layers to guarantee records are written cleanly without data corruption.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F73"/>
                </a:solidFill>
                <a:latin typeface="Arial"/>
              </a:defRPr>
            </a:pPr>
            <a:r>
              <a:t>Appendix: FastAPI Model Context Protocol (MCP) Server</a:t>
            </a:r>
          </a:p>
          <a:p>
            <a:pPr>
              <a:defRPr sz="1400">
                <a:solidFill>
                  <a:srgbClr val="212529"/>
                </a:solidFill>
                <a:latin typeface="Calibri"/>
              </a:defRPr>
            </a:pPr>
            <a:r>
              <a:t>Production Endpoint Security and String Writing Structure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94D2BD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5F73"/>
                </a:solidFill>
                <a:latin typeface="Courier New"/>
              </a:defRPr>
            </a:pPr>
            <a:r>
              <a:t>@app.post('/api/mcp/record')</a:t>
            </a:r>
            <a:br/>
            <a:r>
              <a:t>def record_reservation(payload: ReservationSchema, token: str = Depends(verify_mcp_token)):</a:t>
            </a:r>
            <a:br/>
            <a:r>
              <a:t>    try:</a:t>
            </a:r>
            <a:br/>
            <a:r>
              <a:t>        approval_time = datetime.now().strftime('%Y-%m-%d %H:%M:%S')</a:t>
            </a:r>
            <a:br/>
            <a:r>
              <a:t>        # Strict Formatting Entry Standard Implemented</a:t>
            </a:r>
            <a:br/>
            <a:r>
              <a:t>        log_entry = f'{payload.name} | {payload.car_number} | {payload.reservation_period} | {approval_time}\n'</a:t>
            </a:r>
            <a:br/>
            <a:r>
              <a:t>        with open('data/storage/confirmed_reservations.txt', 'a', encoding='utf-8') as f:</a:t>
            </a:r>
            <a:br/>
            <a:r>
              <a:t>            f.write(log_entry)</a:t>
            </a:r>
            <a:br/>
            <a:r>
              <a:t>        return {'status': 'success', 'message': 'Written to storage'}</a:t>
            </a:r>
            <a:br/>
            <a:r>
              <a:t>    except Exception as e:</a:t>
            </a:r>
            <a:br/>
            <a:r>
              <a:t>        raise HTTPException(status_code=500, detail=f'Local Fallback Hook Triggered: {str(e)}')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5F73"/>
                </a:solidFill>
                <a:latin typeface="Arial"/>
              </a:defRPr>
            </a:pPr>
            <a:r>
              <a:t>Appendix: Multi-Agent State Machine Flow Setup</a:t>
            </a:r>
          </a:p>
          <a:p>
            <a:pPr>
              <a:defRPr sz="1400">
                <a:solidFill>
                  <a:srgbClr val="212529"/>
                </a:solidFill>
                <a:latin typeface="Calibri"/>
              </a:defRPr>
            </a:pPr>
            <a:r>
              <a:t>LangGraph Structural Composition and Processing Nodes Graph Specification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18288"/>
          </a:xfrm>
          <a:prstGeom prst="rect">
            <a:avLst/>
          </a:prstGeom>
          <a:solidFill>
            <a:srgbClr val="94D2BD"/>
          </a:solidFill>
          <a:ln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5F73"/>
                </a:solidFill>
                <a:latin typeface="Courier New"/>
              </a:defRPr>
            </a:pPr>
            <a:r>
              <a:t># Unified LangGraph Control Topology Generation</a:t>
            </a:r>
            <a:br/>
            <a:r>
              <a:t>workflow = StateGraph(AgentState)</a:t>
            </a:r>
            <a:br/>
            <a:r>
              <a:t>workflow.add_node('user_interaction', user_interaction_node)</a:t>
            </a:r>
            <a:br/>
            <a:r>
              <a:t>workflow.add_node('admin_approval', admin_approval_node)</a:t>
            </a:r>
            <a:br/>
            <a:r>
              <a:t>workflow.add_node('data_recording', data_recording_node)</a:t>
            </a:r>
            <a:br/>
            <a:br/>
            <a:r>
              <a:t>workflow.set_entry_point('user_interaction')</a:t>
            </a:r>
            <a:br/>
            <a:r>
              <a:t>workflow.add_conditional_edges(</a:t>
            </a:r>
            <a:br/>
            <a:r>
              <a:t>    'user_interaction',</a:t>
            </a:r>
            <a:br/>
            <a:r>
              <a:t>    routing_edge,</a:t>
            </a:r>
            <a:br/>
            <a:r>
              <a:t>    {'admin_approval': 'admin_approval', END: END}</a:t>
            </a:r>
            <a:br/>
            <a:r>
              <a:t>)</a:t>
            </a:r>
            <a:br/>
            <a:r>
              <a:t>workflow.add_edge('admin_approval', 'data_recording')</a:t>
            </a:r>
            <a:br/>
            <a:r>
              <a:t>workflow.add_edge('data_recording', END)</a:t>
            </a:r>
            <a:br/>
            <a:br/>
            <a:r>
              <a:t>smartpark_pipeline = workflow.compile()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