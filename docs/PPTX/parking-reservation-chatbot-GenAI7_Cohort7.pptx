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8" r:id="rId3"/>
    <p:sldId id="260" r:id="rId4"/>
    <p:sldId id="267" r:id="rId5"/>
    <p:sldId id="261" r:id="rId6"/>
    <p:sldId id="268" r:id="rId7"/>
    <p:sldId id="269" r:id="rId8"/>
    <p:sldId id="270" r:id="rId9"/>
    <p:sldId id="263" r:id="rId10"/>
  </p:sldIdLst>
  <p:sldSz cx="9144000" cy="5143500" type="screen16x9"/>
  <p:notesSz cx="5143500" cy="9144000"/>
  <p:embeddedFontLst>
    <p:embeddedFont>
      <p:font typeface="Azeret Mono" pitchFamily="2" charset="77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strument Sans Bold" pitchFamily="2" charset="0"/>
      <p:regular r:id="rId20"/>
      <p:bold r:id="rId21"/>
    </p:embeddedFont>
    <p:embeddedFont>
      <p:font typeface="Instrument Sans Medium" pitchFamily="2" charset="0"/>
      <p:regular r:id="rId22"/>
    </p:embeddedFont>
    <p:embeddedFont>
      <p:font typeface="Instrument Sans SemiBold" pitchFamily="2" charset="0"/>
      <p:regular r:id="rId23"/>
      <p:bold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oppins" pitchFamily="2" charset="77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63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068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8047" y="3306775"/>
            <a:ext cx="1285875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89647" y="3306775"/>
            <a:ext cx="1028700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04071" y="3306775"/>
            <a:ext cx="1157288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47084" y="3306775"/>
            <a:ext cx="914400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7209" y="3306775"/>
            <a:ext cx="1378744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46872" y="3713969"/>
            <a:ext cx="1078706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11303" y="3713969"/>
            <a:ext cx="885825" cy="32146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571500" y="662248"/>
            <a:ext cx="8001000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900" dirty="0">
                <a:solidFill>
                  <a:srgbClr val="11CAA0"/>
                </a:solidFill>
                <a:latin typeface="Azeret Mono"/>
                <a:ea typeface="Azeret Mono"/>
                <a:cs typeface="Azeret Mono"/>
                <a:sym typeface="Azeret Mono"/>
              </a:rPr>
              <a:t>Parking Reservation Chatbot</a:t>
            </a:r>
            <a:endParaRPr sz="135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71475" y="916520"/>
            <a:ext cx="84010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2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SmartPark </a:t>
            </a:r>
            <a:r>
              <a:rPr lang="en-US" sz="4275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endParaRPr sz="1350"/>
          </a:p>
        </p:txBody>
      </p:sp>
      <p:sp>
        <p:nvSpPr>
          <p:cNvPr id="94" name="Google Shape;94;p13"/>
          <p:cNvSpPr txBox="1"/>
          <p:nvPr/>
        </p:nvSpPr>
        <p:spPr>
          <a:xfrm>
            <a:off x="3118247" y="1823777"/>
            <a:ext cx="29075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RAG-Powered Conversational Parking Chatbot</a:t>
            </a:r>
            <a:endParaRPr sz="1350"/>
          </a:p>
        </p:txBody>
      </p:sp>
      <p:sp>
        <p:nvSpPr>
          <p:cNvPr id="95" name="Google Shape;95;p13"/>
          <p:cNvSpPr/>
          <p:nvPr/>
        </p:nvSpPr>
        <p:spPr>
          <a:xfrm flipV="1">
            <a:off x="4286250" y="2430995"/>
            <a:ext cx="571500" cy="3428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535906" y="2430996"/>
            <a:ext cx="6072188" cy="49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013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 intelligent conversational system combining Large Language Models, semantic search, and a structured Reservation Agent to handle parking queries and bookings.</a:t>
            </a:r>
            <a:endParaRPr sz="135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4321188"/>
            <a:ext cx="8001000" cy="19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04"/>
              </a:lnSpc>
            </a:pPr>
            <a:r>
              <a:rPr lang="en-US" sz="788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PRESENTER: RISHABH GUPTA</a:t>
            </a:r>
            <a:endParaRPr sz="1350"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82353" y="341035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53953" y="3410359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68378" y="3410359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11390" y="341035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11515" y="341035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711178" y="3817553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875609" y="3817553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0395"/>
            <a:ext cx="104075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1174" y="582885"/>
            <a:ext cx="13278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635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46634"/>
            <a:ext cx="262823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SmartPark AI follows a modular, agent-driven architecture. The LangGraph workflow orchestrates interactions between the chat orchestrator, reservation agent, RAG retriever, and admin agent — all backed by Azure OpenAI, Milvus, and SQLite.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2096170"/>
            <a:ext cx="5177582" cy="68855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21348"/>
            <a:ext cx="2622724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3127" y="368215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LangGraph Workflow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33127" y="3988668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Orchestrates agent state transitions and decision logic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3521348"/>
            <a:ext cx="2622724" cy="10817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97610" y="368215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Azure OpenAI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497610" y="3988668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LLM and embedding models power all AI interactions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3521348"/>
            <a:ext cx="2622724" cy="10817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092" y="368215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Milvus + SQLite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62092" y="3988668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Vector store for RAG; relational DB for reservations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327"/>
            <a:ext cx="749796" cy="218033"/>
          </a:xfrm>
          <a:prstGeom prst="roundRect">
            <a:avLst>
              <a:gd name="adj" fmla="val 18775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9193" y="464865"/>
            <a:ext cx="1060847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8181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Technologies Powering SmartPark AI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496119" y="1225897"/>
            <a:ext cx="8151763" cy="3489201"/>
          </a:xfrm>
          <a:prstGeom prst="roundRect">
            <a:avLst>
              <a:gd name="adj" fmla="val 14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0881" y="1230660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2771" y="1298228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60675" y="1298228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0881" y="1546994"/>
            <a:ext cx="8142238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2771" y="1614562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Workflow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60675" y="1614562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881" y="1863328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71" y="1930896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60675" y="1930896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Azure OpenAI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0881" y="2179662"/>
            <a:ext cx="8142238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771" y="2247230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Framework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60675" y="2247230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0881" y="2495996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771" y="2563564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Vector DB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60675" y="2563564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Milvus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0881" y="2812331"/>
            <a:ext cx="8142238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771" y="2879899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Database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60675" y="2879899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SQLite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0881" y="3128665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2771" y="3196233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API/Email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60675" y="3196233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Flask/Flask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0881" y="3444999"/>
            <a:ext cx="8142238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2771" y="3512567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Backend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60675" y="3512567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</a:rPr>
              <a:t>Python 3.12.7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0881" y="3761333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2771" y="3828901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Testing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60675" y="3828901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0881" y="4077667"/>
            <a:ext cx="8142238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71" y="4145235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CI/CD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60675" y="4145235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0881" y="4394002"/>
            <a:ext cx="81422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2771" y="4461570"/>
            <a:ext cx="22467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60675" y="4461570"/>
            <a:ext cx="63178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Docker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086"/>
            <a:ext cx="949077" cy="223317"/>
          </a:xfrm>
          <a:prstGeom prst="roundRect">
            <a:avLst>
              <a:gd name="adj" fmla="val 18664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461293"/>
            <a:ext cx="1257449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9078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Capabilities at a Glance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41078"/>
            <a:ext cx="248022" cy="248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624757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Conversational Assistant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1883718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chatbot handles parking queries and reservations in natural language.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241078"/>
            <a:ext cx="248022" cy="248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9791" y="1624757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Knowledge Retrieval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39791" y="1883718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Milvus vector DB powers accurate answers on policies, pricing, and FAQs.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72854"/>
            <a:ext cx="248022" cy="2480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856533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Reservation Workflow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115494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Guides users through booking, validates details, and allocates available slots.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791" y="2472854"/>
            <a:ext cx="248022" cy="2480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9791" y="2856533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Guardrails &amp; Data Masking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39791" y="3115494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Protects sensitive data — phone numbers, vehicle details, and licenses are masked in logs.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04630"/>
            <a:ext cx="248022" cy="2480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088309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6119" y="4347270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alerts for approvals, rejections, and admin notifications via Gmail SMTP.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3704630"/>
            <a:ext cx="248022" cy="24802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9791" y="4088309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MCP Synchronization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639791" y="4347270"/>
            <a:ext cx="4008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Syncs reservation data with the MCP server after every status change.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929"/>
            <a:ext cx="853232" cy="212824"/>
          </a:xfrm>
          <a:prstGeom prst="roundRect">
            <a:avLst>
              <a:gd name="adj" fmla="val 18885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7854" y="441796"/>
            <a:ext cx="116696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JOURNEY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9085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Reservation Workflow Operates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84225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2818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</a:rPr>
              <a:t>MCP Synchronization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89063" y="3389972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</a:rPr>
              <a:t>Admin Agent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3965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</a:rPr>
              <a:t>Chat Orchestrator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3965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Open Chat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198962"/>
            <a:ext cx="8151763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reservation begins in a </a:t>
            </a:r>
            <a:r>
              <a:rPr lang="en-US" sz="9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Pending</a:t>
            </a: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state. When an administrator approves or rejects a request, the status is automatically synchronized to the FastAPI MCP server, which updates the </a:t>
            </a: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approved_reservations.txt</a:t>
            </a: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</a:t>
            </a: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rejected_reservations.txt</a:t>
            </a: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files. This ensures external systems stay in sync with every status change through the MCP file synchronization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00562"/>
            <a:ext cx="80010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193788"/>
            <a:ext cx="1428750" cy="7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86000" y="2515381"/>
            <a:ext cx="1428750" cy="7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14750" y="1193787"/>
            <a:ext cx="1428750" cy="88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43500" y="2515381"/>
            <a:ext cx="1428750" cy="7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1193788"/>
            <a:ext cx="1428750" cy="7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3908413"/>
            <a:ext cx="8001000" cy="50564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571500" y="4614863"/>
            <a:ext cx="68580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 b="1">
                <a:solidFill>
                  <a:srgbClr val="11CAA0"/>
                </a:solidFill>
                <a:latin typeface="Azeret Mono"/>
                <a:ea typeface="Azeret Mono"/>
                <a:cs typeface="Azeret Mono"/>
                <a:sym typeface="Azeret Mono"/>
              </a:rPr>
              <a:t>SmartPark AI</a:t>
            </a:r>
            <a:endParaRPr sz="1350"/>
          </a:p>
        </p:txBody>
      </p:sp>
      <p:sp>
        <p:nvSpPr>
          <p:cNvPr id="201" name="Google Shape;201;p17"/>
          <p:cNvSpPr txBox="1"/>
          <p:nvPr/>
        </p:nvSpPr>
        <p:spPr>
          <a:xfrm>
            <a:off x="7829550" y="4614863"/>
            <a:ext cx="74295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Slide 5 of 13</a:t>
            </a:r>
            <a:endParaRPr sz="1350"/>
          </a:p>
        </p:txBody>
      </p:sp>
      <p:pic>
        <p:nvPicPr>
          <p:cNvPr id="202" name="Google Shape;202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1193787"/>
            <a:ext cx="8001000" cy="250031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964048" y="1329519"/>
            <a:ext cx="1215152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44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Document Loading</a:t>
            </a:r>
            <a:endParaRPr sz="1350"/>
          </a:p>
        </p:txBody>
      </p:sp>
      <p:sp>
        <p:nvSpPr>
          <p:cNvPr id="204" name="Google Shape;204;p17"/>
          <p:cNvSpPr txBox="1"/>
          <p:nvPr/>
        </p:nvSpPr>
        <p:spPr>
          <a:xfrm>
            <a:off x="992981" y="1536687"/>
            <a:ext cx="1157288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675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Load parking docs from data/documents</a:t>
            </a:r>
            <a:endParaRPr sz="1350" dirty="0"/>
          </a:p>
        </p:txBody>
      </p:sp>
      <p:sp>
        <p:nvSpPr>
          <p:cNvPr id="205" name="Google Shape;205;p17"/>
          <p:cNvSpPr txBox="1"/>
          <p:nvPr/>
        </p:nvSpPr>
        <p:spPr>
          <a:xfrm>
            <a:off x="2392798" y="2651113"/>
            <a:ext cx="1215152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44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Text Splitting</a:t>
            </a:r>
            <a:endParaRPr sz="1350"/>
          </a:p>
        </p:txBody>
      </p:sp>
      <p:sp>
        <p:nvSpPr>
          <p:cNvPr id="206" name="Google Shape;206;p17"/>
          <p:cNvSpPr txBox="1"/>
          <p:nvPr/>
        </p:nvSpPr>
        <p:spPr>
          <a:xfrm>
            <a:off x="2421731" y="2858281"/>
            <a:ext cx="1157288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67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Chunk large documents into passages</a:t>
            </a:r>
            <a:endParaRPr sz="1350"/>
          </a:p>
        </p:txBody>
      </p:sp>
      <p:sp>
        <p:nvSpPr>
          <p:cNvPr id="207" name="Google Shape;207;p17"/>
          <p:cNvSpPr txBox="1"/>
          <p:nvPr/>
        </p:nvSpPr>
        <p:spPr>
          <a:xfrm>
            <a:off x="3821548" y="1329519"/>
            <a:ext cx="1215152" cy="259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44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Embedding Generation</a:t>
            </a:r>
            <a:endParaRPr sz="1350"/>
          </a:p>
        </p:txBody>
      </p:sp>
      <p:sp>
        <p:nvSpPr>
          <p:cNvPr id="208" name="Google Shape;208;p17"/>
          <p:cNvSpPr txBox="1"/>
          <p:nvPr/>
        </p:nvSpPr>
        <p:spPr>
          <a:xfrm>
            <a:off x="3850481" y="1700994"/>
            <a:ext cx="1157288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67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Use Azure OpenAI text-embedding-3-small</a:t>
            </a:r>
            <a:endParaRPr sz="1350"/>
          </a:p>
        </p:txBody>
      </p:sp>
      <p:sp>
        <p:nvSpPr>
          <p:cNvPr id="209" name="Google Shape;209;p17"/>
          <p:cNvSpPr txBox="1"/>
          <p:nvPr/>
        </p:nvSpPr>
        <p:spPr>
          <a:xfrm>
            <a:off x="5250298" y="2651113"/>
            <a:ext cx="1215152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44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Vector Storage</a:t>
            </a:r>
            <a:endParaRPr sz="1350"/>
          </a:p>
        </p:txBody>
      </p:sp>
      <p:sp>
        <p:nvSpPr>
          <p:cNvPr id="210" name="Google Shape;210;p17"/>
          <p:cNvSpPr txBox="1"/>
          <p:nvPr/>
        </p:nvSpPr>
        <p:spPr>
          <a:xfrm>
            <a:off x="5279231" y="2858281"/>
            <a:ext cx="1157288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67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Store embeddings in Milvus vector store</a:t>
            </a:r>
            <a:endParaRPr sz="1350"/>
          </a:p>
        </p:txBody>
      </p:sp>
      <p:sp>
        <p:nvSpPr>
          <p:cNvPr id="211" name="Google Shape;211;p17"/>
          <p:cNvSpPr txBox="1"/>
          <p:nvPr/>
        </p:nvSpPr>
        <p:spPr>
          <a:xfrm>
            <a:off x="6679048" y="1329519"/>
            <a:ext cx="1215152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44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Semantic Retrieval</a:t>
            </a:r>
            <a:endParaRPr sz="1350"/>
          </a:p>
        </p:txBody>
      </p:sp>
      <p:sp>
        <p:nvSpPr>
          <p:cNvPr id="212" name="Google Shape;212;p17"/>
          <p:cNvSpPr txBox="1"/>
          <p:nvPr/>
        </p:nvSpPr>
        <p:spPr>
          <a:xfrm>
            <a:off x="6707981" y="1536687"/>
            <a:ext cx="1157288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67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Embed query and search similar vectors</a:t>
            </a:r>
            <a:endParaRPr sz="1350"/>
          </a:p>
        </p:txBody>
      </p:sp>
      <p:sp>
        <p:nvSpPr>
          <p:cNvPr id="213" name="Google Shape;213;p17"/>
          <p:cNvSpPr txBox="1"/>
          <p:nvPr/>
        </p:nvSpPr>
        <p:spPr>
          <a:xfrm>
            <a:off x="571500" y="469813"/>
            <a:ext cx="84010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250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250" b="1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RAG Pipeline</a:t>
            </a:r>
            <a:endParaRPr sz="13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1670298"/>
            <a:ext cx="3821906" cy="219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0594" y="1670298"/>
            <a:ext cx="3821906" cy="219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7769" y="2980283"/>
            <a:ext cx="16002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2980283"/>
            <a:ext cx="16002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500562"/>
            <a:ext cx="800100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571500" y="4614863"/>
            <a:ext cx="68580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 b="1">
                <a:solidFill>
                  <a:srgbClr val="11CAA0"/>
                </a:solidFill>
                <a:latin typeface="Azeret Mono"/>
                <a:ea typeface="Azeret Mono"/>
                <a:cs typeface="Azeret Mono"/>
                <a:sym typeface="Azeret Mono"/>
              </a:rPr>
              <a:t>SmartPark AI</a:t>
            </a:r>
            <a:endParaRPr sz="1350"/>
          </a:p>
        </p:txBody>
      </p:sp>
      <p:sp>
        <p:nvSpPr>
          <p:cNvPr id="225" name="Google Shape;225;p18"/>
          <p:cNvSpPr txBox="1"/>
          <p:nvPr/>
        </p:nvSpPr>
        <p:spPr>
          <a:xfrm>
            <a:off x="7829550" y="4614863"/>
            <a:ext cx="74295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Slide 6 of 13</a:t>
            </a:r>
            <a:endParaRPr sz="1350"/>
          </a:p>
        </p:txBody>
      </p:sp>
      <p:sp>
        <p:nvSpPr>
          <p:cNvPr id="226" name="Google Shape;226;p18"/>
          <p:cNvSpPr txBox="1"/>
          <p:nvPr/>
        </p:nvSpPr>
        <p:spPr>
          <a:xfrm>
            <a:off x="1114425" y="1950095"/>
            <a:ext cx="3172896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238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Security Guardrails</a:t>
            </a:r>
            <a:endParaRPr sz="1350"/>
          </a:p>
        </p:txBody>
      </p:sp>
      <p:sp>
        <p:nvSpPr>
          <p:cNvPr id="227" name="Google Shape;227;p18"/>
          <p:cNvSpPr txBox="1"/>
          <p:nvPr/>
        </p:nvSpPr>
        <p:spPr>
          <a:xfrm>
            <a:off x="828676" y="2270374"/>
            <a:ext cx="3307556" cy="41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84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secure modern conversational pipelines, input_filter.py enforces robust barriers before executing prompt sequences:</a:t>
            </a:r>
            <a:endParaRPr sz="1350"/>
          </a:p>
        </p:txBody>
      </p:sp>
      <p:sp>
        <p:nvSpPr>
          <p:cNvPr id="228" name="Google Shape;228;p18"/>
          <p:cNvSpPr txBox="1"/>
          <p:nvPr/>
        </p:nvSpPr>
        <p:spPr>
          <a:xfrm>
            <a:off x="5272088" y="1950095"/>
            <a:ext cx="3195399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238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Sensitive Data Masking</a:t>
            </a:r>
            <a:endParaRPr sz="1350"/>
          </a:p>
        </p:txBody>
      </p:sp>
      <p:sp>
        <p:nvSpPr>
          <p:cNvPr id="229" name="Google Shape;229;p18"/>
          <p:cNvSpPr txBox="1"/>
          <p:nvPr/>
        </p:nvSpPr>
        <p:spPr>
          <a:xfrm>
            <a:off x="5007769" y="2375297"/>
            <a:ext cx="3307556" cy="41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84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Active regex rules continuously scrub incoming strings, masking confidential parameters inside chatbot logs.</a:t>
            </a:r>
            <a:endParaRPr sz="1350"/>
          </a:p>
        </p:txBody>
      </p:sp>
      <p:pic>
        <p:nvPicPr>
          <p:cNvPr id="230" name="Google Shape;23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675" y="1966763"/>
            <a:ext cx="200025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1028701" y="2706142"/>
            <a:ext cx="310753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Injection Dropouts:</a:t>
            </a:r>
            <a:r>
              <a:rPr lang="en-US" sz="9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Instantly rejects attempts to leak SQL schema structures or override prompts.</a:t>
            </a:r>
            <a:endParaRPr sz="1350"/>
          </a:p>
        </p:txBody>
      </p:sp>
      <p:sp>
        <p:nvSpPr>
          <p:cNvPr id="232" name="Google Shape;232;p18"/>
          <p:cNvSpPr txBox="1"/>
          <p:nvPr/>
        </p:nvSpPr>
        <p:spPr>
          <a:xfrm>
            <a:off x="1028701" y="3157537"/>
            <a:ext cx="310753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Content Verification:</a:t>
            </a:r>
            <a:r>
              <a:rPr lang="en-US" sz="9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Evaluates prompt sanity, returning safe default outputs for inappropriate phrases.</a:t>
            </a:r>
            <a:endParaRPr sz="1350"/>
          </a:p>
        </p:txBody>
      </p:sp>
      <p:pic>
        <p:nvPicPr>
          <p:cNvPr id="233" name="Google Shape;23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07769" y="1966763"/>
            <a:ext cx="17859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6829425" y="3094583"/>
            <a:ext cx="74295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 b="1">
                <a:solidFill>
                  <a:srgbClr val="166534"/>
                </a:solidFill>
                <a:latin typeface="Azeret Mono"/>
                <a:ea typeface="Azeret Mono"/>
                <a:cs typeface="Azeret Mono"/>
                <a:sym typeface="Azeret Mono"/>
              </a:rPr>
              <a:t>Masked Output</a:t>
            </a:r>
            <a:endParaRPr sz="1350"/>
          </a:p>
        </p:txBody>
      </p:sp>
      <p:sp>
        <p:nvSpPr>
          <p:cNvPr id="235" name="Google Shape;235;p18"/>
          <p:cNvSpPr txBox="1"/>
          <p:nvPr/>
        </p:nvSpPr>
        <p:spPr>
          <a:xfrm>
            <a:off x="571500" y="469813"/>
            <a:ext cx="84010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25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Twin-Filter </a:t>
            </a:r>
            <a:r>
              <a:rPr lang="en-US" sz="225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Defense Layers</a:t>
            </a:r>
            <a:endParaRPr sz="1350"/>
          </a:p>
        </p:txBody>
      </p:sp>
      <p:pic>
        <p:nvPicPr>
          <p:cNvPr id="236" name="Google Shape;23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75" y="272042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675" y="31718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5122069" y="3094583"/>
            <a:ext cx="571500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75" b="1">
                <a:solidFill>
                  <a:srgbClr val="991B1B"/>
                </a:solidFill>
                <a:latin typeface="Azeret Mono"/>
                <a:ea typeface="Azeret Mono"/>
                <a:cs typeface="Azeret Mono"/>
                <a:sym typeface="Azeret Mono"/>
              </a:rPr>
              <a:t>Raw Buffer</a:t>
            </a:r>
            <a:endParaRPr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33983" cy="110430"/>
          </a:xfrm>
          <a:prstGeom prst="roundRect">
            <a:avLst>
              <a:gd name="adj" fmla="val 21567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80620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Human in the Loop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33" y="789012"/>
            <a:ext cx="7552060" cy="4606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809" y="1231073"/>
            <a:ext cx="1721125" cy="687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Submits Reservation Request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183349" y="3731819"/>
            <a:ext cx="172112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Status = PENDING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49993" y="1293866"/>
            <a:ext cx="1777040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 Notified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49993" y="1588341"/>
            <a:ext cx="1777040" cy="55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EmailAdmin Console TerminalStreamlit Admin Dashboard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3050" y="4265619"/>
            <a:ext cx="1721125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 Actions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3050" y="4560094"/>
            <a:ext cx="1721125" cy="41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ApproveRejectRevert to Pending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70703" y="1544399"/>
            <a:ext cx="1721126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MCP Synchronization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70703" y="2068137"/>
            <a:ext cx="1721126" cy="55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Updates approved_reservations.txt or rejected_reservations.txt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5435426"/>
            <a:ext cx="815176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SmartPark AI uses a human-in-the-loop reservation flow where a user submits a request, the status remains </a:t>
            </a: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PENDING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administrators are notified through multiple channels, and then approve, reject, or revert the request. The final decision is synchronized through MCP to update </a:t>
            </a:r>
            <a:r>
              <a:rPr lang="en-US" sz="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approved_reservations.txt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</a:t>
            </a:r>
            <a:r>
              <a:rPr lang="en-US" sz="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rejected_reservations.txt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34913" cy="110430"/>
          </a:xfrm>
          <a:prstGeom prst="roundRect">
            <a:avLst>
              <a:gd name="adj" fmla="val 21567"/>
            </a:avLst>
          </a:prstGeom>
          <a:noFill/>
          <a:ln/>
          <a:effectLst>
            <a:outerShdw blurRad="101600" dist="50800" dir="16200000" algn="bl" rotWithShape="0">
              <a:srgbClr val="50546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110713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INSTALLATION &amp; SETUP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Getting Started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901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Follow the setup below to install dependencies, start services, run tests, and troubleshoot common issues.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949300"/>
            <a:ext cx="4488879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Start Services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22015"/>
            <a:ext cx="4488879" cy="6230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889" y="1367061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4582" y="1202382"/>
            <a:ext cx="40800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Clone Repository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824582" y="1352922"/>
            <a:ext cx="4080049" cy="311795"/>
          </a:xfrm>
          <a:prstGeom prst="roundRect">
            <a:avLst>
              <a:gd name="adj" fmla="val 95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1085" y="1352922"/>
            <a:ext cx="4087044" cy="311795"/>
          </a:xfrm>
          <a:prstGeom prst="roundRect">
            <a:avLst>
              <a:gd name="adj" fmla="val 34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09637" y="1423764"/>
            <a:ext cx="390993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git clone  https://</a:t>
            </a:r>
            <a:r>
              <a:rPr lang="en-US" sz="700" dirty="0" err="1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github.com</a:t>
            </a:r>
            <a:r>
              <a:rPr lang="en-US" sz="7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/rishabhjhs56/parking-reservation-</a:t>
            </a:r>
            <a:r>
              <a:rPr lang="en-US" sz="700" dirty="0" err="1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chatbot.git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cd parking-reservation-chatbot</a:t>
            </a:r>
            <a:endParaRPr lang="en-US" sz="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80505"/>
            <a:ext cx="4488879" cy="6230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1889" y="2025551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24582" y="1860872"/>
            <a:ext cx="40800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Start Milvus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824582" y="2011412"/>
            <a:ext cx="4080049" cy="311795"/>
          </a:xfrm>
          <a:prstGeom prst="roundRect">
            <a:avLst>
              <a:gd name="adj" fmla="val 95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1085" y="2011412"/>
            <a:ext cx="4087044" cy="311795"/>
          </a:xfrm>
          <a:prstGeom prst="roundRect">
            <a:avLst>
              <a:gd name="adj" fmla="val 34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09637" y="2082254"/>
            <a:ext cx="390993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cd docker/milvus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docker-compose up -d</a:t>
            </a:r>
            <a:endParaRPr lang="en-US" sz="7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38995"/>
            <a:ext cx="4488879" cy="6230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1889" y="2684041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24582" y="2519363"/>
            <a:ext cx="40800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Initialize Database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824582" y="2669902"/>
            <a:ext cx="4080049" cy="311795"/>
          </a:xfrm>
          <a:prstGeom prst="roundRect">
            <a:avLst>
              <a:gd name="adj" fmla="val 95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21085" y="2669902"/>
            <a:ext cx="4087044" cy="311795"/>
          </a:xfrm>
          <a:prstGeom prst="roundRect">
            <a:avLst>
              <a:gd name="adj" fmla="val 34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09637" y="2740744"/>
            <a:ext cx="390993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app.database.init_db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app.database.seed_slots</a:t>
            </a:r>
            <a:endParaRPr lang="en-US" sz="7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97485"/>
            <a:ext cx="4488879" cy="5380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1889" y="3300040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24582" y="3177853"/>
            <a:ext cx="40800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Index Documents</a:t>
            </a:r>
            <a:endParaRPr lang="en-US" sz="650" dirty="0"/>
          </a:p>
        </p:txBody>
      </p:sp>
      <p:sp>
        <p:nvSpPr>
          <p:cNvPr id="28" name="Shape 22"/>
          <p:cNvSpPr/>
          <p:nvPr/>
        </p:nvSpPr>
        <p:spPr>
          <a:xfrm>
            <a:off x="824582" y="3328392"/>
            <a:ext cx="4080049" cy="226740"/>
          </a:xfrm>
          <a:prstGeom prst="roundRect">
            <a:avLst>
              <a:gd name="adj" fmla="val 131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21085" y="3328392"/>
            <a:ext cx="4087044" cy="226740"/>
          </a:xfrm>
          <a:prstGeom prst="roundRect">
            <a:avLst>
              <a:gd name="adj" fmla="val 4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909637" y="3399234"/>
            <a:ext cx="39099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app.rag.index_documents</a:t>
            </a:r>
            <a:endParaRPr lang="en-US" sz="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670920"/>
            <a:ext cx="4488879" cy="5183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1889" y="3863653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824582" y="3751287"/>
            <a:ext cx="40800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Start Server</a:t>
            </a:r>
            <a:endParaRPr lang="en-US" sz="650" dirty="0"/>
          </a:p>
        </p:txBody>
      </p:sp>
      <p:sp>
        <p:nvSpPr>
          <p:cNvPr id="34" name="Text 27"/>
          <p:cNvSpPr/>
          <p:nvPr/>
        </p:nvSpPr>
        <p:spPr>
          <a:xfrm>
            <a:off x="824582" y="3897437"/>
            <a:ext cx="4080049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Flask API:</a:t>
            </a: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app.api.admin_api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MCP Server:</a:t>
            </a: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app.mcp.server:app --reload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496119" y="4229100"/>
            <a:ext cx="4488879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Testing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496119" y="4401815"/>
            <a:ext cx="4488879" cy="226740"/>
          </a:xfrm>
          <a:prstGeom prst="roundRect">
            <a:avLst>
              <a:gd name="adj" fmla="val 131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0"/>
          <p:cNvSpPr/>
          <p:nvPr/>
        </p:nvSpPr>
        <p:spPr>
          <a:xfrm>
            <a:off x="882759" y="4401815"/>
            <a:ext cx="3715598" cy="226740"/>
          </a:xfrm>
          <a:prstGeom prst="roundRect">
            <a:avLst>
              <a:gd name="adj" fmla="val 4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581174" y="4472657"/>
            <a:ext cx="47759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pytest -v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96119" y="4668366"/>
            <a:ext cx="4488879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Logs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496119" y="4841081"/>
            <a:ext cx="4488879" cy="226740"/>
          </a:xfrm>
          <a:prstGeom prst="roundRect">
            <a:avLst>
              <a:gd name="adj" fmla="val 131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92621" y="4841081"/>
            <a:ext cx="4495874" cy="226740"/>
          </a:xfrm>
          <a:prstGeom prst="roundRect">
            <a:avLst>
              <a:gd name="adj" fmla="val 4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81174" y="4911923"/>
            <a:ext cx="47759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logs/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162699" y="949300"/>
            <a:ext cx="348987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Workflows and Tools</a:t>
            </a:r>
            <a:endParaRPr lang="en-US" sz="8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2699" y="1122015"/>
            <a:ext cx="3489871" cy="78931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258470" y="1450181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5491163" y="1202382"/>
            <a:ext cx="30810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Run Langraph Workflow</a:t>
            </a:r>
            <a:endParaRPr lang="en-US" sz="650" dirty="0"/>
          </a:p>
        </p:txBody>
      </p:sp>
      <p:sp>
        <p:nvSpPr>
          <p:cNvPr id="47" name="Shape 39"/>
          <p:cNvSpPr/>
          <p:nvPr/>
        </p:nvSpPr>
        <p:spPr>
          <a:xfrm>
            <a:off x="5491163" y="1352922"/>
            <a:ext cx="3081040" cy="226740"/>
          </a:xfrm>
          <a:prstGeom prst="roundRect">
            <a:avLst>
              <a:gd name="adj" fmla="val 131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5487665" y="1352922"/>
            <a:ext cx="3088035" cy="226740"/>
          </a:xfrm>
          <a:prstGeom prst="roundRect">
            <a:avLst>
              <a:gd name="adj" fmla="val 4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5576218" y="1423764"/>
            <a:ext cx="29109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run_graph.py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5491163" y="1619473"/>
            <a:ext cx="3081040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Or: </a:t>
            </a: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main.py</a:t>
            </a: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(Chatbot)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Or: </a:t>
            </a: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misc_scripts.admin_console</a:t>
            </a: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(Admin Console)</a:t>
            </a:r>
            <a:endParaRPr lang="en-US" sz="7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2699" y="1946746"/>
            <a:ext cx="3489871" cy="53801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258470" y="2149301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5491163" y="2027113"/>
            <a:ext cx="30810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Launch Streamlit</a:t>
            </a:r>
            <a:endParaRPr lang="en-US" sz="650" dirty="0"/>
          </a:p>
        </p:txBody>
      </p:sp>
      <p:sp>
        <p:nvSpPr>
          <p:cNvPr id="54" name="Shape 45"/>
          <p:cNvSpPr/>
          <p:nvPr/>
        </p:nvSpPr>
        <p:spPr>
          <a:xfrm>
            <a:off x="5491163" y="2177653"/>
            <a:ext cx="3081040" cy="226740"/>
          </a:xfrm>
          <a:prstGeom prst="roundRect">
            <a:avLst>
              <a:gd name="adj" fmla="val 131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5487665" y="2177653"/>
            <a:ext cx="3088035" cy="226740"/>
          </a:xfrm>
          <a:prstGeom prst="roundRect">
            <a:avLst>
              <a:gd name="adj" fmla="val 4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5576218" y="2248495"/>
            <a:ext cx="29109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streamlit run app/ui_app/streamlit_app.py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5162699" y="2524571"/>
            <a:ext cx="348987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Evaluation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5162699" y="2697287"/>
            <a:ext cx="3489871" cy="311795"/>
          </a:xfrm>
          <a:prstGeom prst="roundRect">
            <a:avLst>
              <a:gd name="adj" fmla="val 95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0"/>
          <p:cNvSpPr/>
          <p:nvPr/>
        </p:nvSpPr>
        <p:spPr>
          <a:xfrm>
            <a:off x="5159201" y="2697287"/>
            <a:ext cx="3496866" cy="311795"/>
          </a:xfrm>
          <a:prstGeom prst="roundRect">
            <a:avLst>
              <a:gd name="adj" fmla="val 34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/>
          <p:nvPr/>
        </p:nvSpPr>
        <p:spPr>
          <a:xfrm>
            <a:off x="5247754" y="2768129"/>
            <a:ext cx="331976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-m app.evaluation.rag_evaluation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Report: docs/evaluation_reports/rag_evaluation_report.txt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5162699" y="3048893"/>
            <a:ext cx="348987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CI/CD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5162699" y="3217218"/>
            <a:ext cx="39470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Actions: Install dependencies, Run Pytest, Build validation</a:t>
            </a:r>
            <a:endParaRPr lang="en-US" sz="80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3C8B6CC9-8C23-C239-496A-6CCD8D3FFA6F}"/>
              </a:ext>
            </a:extLst>
          </p:cNvPr>
          <p:cNvSpPr/>
          <p:nvPr/>
        </p:nvSpPr>
        <p:spPr>
          <a:xfrm>
            <a:off x="5159201" y="3406305"/>
            <a:ext cx="7359029" cy="208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US" sz="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TROUBLESHOOTING</a:t>
            </a:r>
            <a:endParaRPr lang="en-US" sz="135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819D08D2-D19A-4D80-4AC8-98C74CAFFC28}"/>
              </a:ext>
            </a:extLst>
          </p:cNvPr>
          <p:cNvSpPr/>
          <p:nvPr/>
        </p:nvSpPr>
        <p:spPr>
          <a:xfrm>
            <a:off x="5111428" y="3670698"/>
            <a:ext cx="8151763" cy="1136154"/>
          </a:xfrm>
          <a:prstGeom prst="roundRect">
            <a:avLst>
              <a:gd name="adj" fmla="val 31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7127D407-F4EC-2B33-60E3-2BC322D2DFA3}"/>
              </a:ext>
            </a:extLst>
          </p:cNvPr>
          <p:cNvSpPr/>
          <p:nvPr/>
        </p:nvSpPr>
        <p:spPr>
          <a:xfrm>
            <a:off x="5111428" y="3861644"/>
            <a:ext cx="8151763" cy="5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ECDC5278-503A-FFE0-25F0-EB33DC0299F6}"/>
              </a:ext>
            </a:extLst>
          </p:cNvPr>
          <p:cNvSpPr/>
          <p:nvPr/>
        </p:nvSpPr>
        <p:spPr>
          <a:xfrm>
            <a:off x="5111428" y="4050209"/>
            <a:ext cx="8151763" cy="5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68ACEA29-BF85-EE36-7D16-3F8A206DFDFA}"/>
              </a:ext>
            </a:extLst>
          </p:cNvPr>
          <p:cNvSpPr/>
          <p:nvPr/>
        </p:nvSpPr>
        <p:spPr>
          <a:xfrm>
            <a:off x="5111428" y="4238775"/>
            <a:ext cx="8151763" cy="5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B53199EB-6E9D-AAD4-609B-2607216103C4}"/>
              </a:ext>
            </a:extLst>
          </p:cNvPr>
          <p:cNvSpPr/>
          <p:nvPr/>
        </p:nvSpPr>
        <p:spPr>
          <a:xfrm>
            <a:off x="5111428" y="4427340"/>
            <a:ext cx="8151763" cy="5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7FD8BBBF-3401-D558-9EDE-ED3613912110}"/>
              </a:ext>
            </a:extLst>
          </p:cNvPr>
          <p:cNvSpPr/>
          <p:nvPr/>
        </p:nvSpPr>
        <p:spPr>
          <a:xfrm>
            <a:off x="5111428" y="4615905"/>
            <a:ext cx="8151763" cy="5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831D6888-BC3B-8544-D938-474FE23A23DE}"/>
              </a:ext>
            </a:extLst>
          </p:cNvPr>
          <p:cNvSpPr/>
          <p:nvPr/>
        </p:nvSpPr>
        <p:spPr>
          <a:xfrm>
            <a:off x="7558906" y="3670698"/>
            <a:ext cx="5399" cy="113615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A536D4A8-96D4-D4E8-4656-1732D65383BB}"/>
              </a:ext>
            </a:extLst>
          </p:cNvPr>
          <p:cNvSpPr/>
          <p:nvPr/>
        </p:nvSpPr>
        <p:spPr>
          <a:xfrm>
            <a:off x="5202585" y="3711774"/>
            <a:ext cx="272482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Issue</a:t>
            </a:r>
            <a:endParaRPr lang="en-US" sz="650" dirty="0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F6EB9C66-290A-052A-48AD-08F7E235F7F3}"/>
              </a:ext>
            </a:extLst>
          </p:cNvPr>
          <p:cNvSpPr/>
          <p:nvPr/>
        </p:nvSpPr>
        <p:spPr>
          <a:xfrm>
            <a:off x="5202585" y="3900339"/>
            <a:ext cx="272482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Docker not running</a:t>
            </a:r>
            <a:endParaRPr lang="en-US" sz="6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BD38AEB3-7194-41ED-477B-3D072B5DE1F0}"/>
              </a:ext>
            </a:extLst>
          </p:cNvPr>
          <p:cNvSpPr/>
          <p:nvPr/>
        </p:nvSpPr>
        <p:spPr>
          <a:xfrm>
            <a:off x="5202585" y="4088905"/>
            <a:ext cx="272482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Milvus connection error</a:t>
            </a:r>
            <a:endParaRPr lang="en-US" sz="65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6CD1315A-6224-1D13-67D9-6E1E7C674E55}"/>
              </a:ext>
            </a:extLst>
          </p:cNvPr>
          <p:cNvSpPr/>
          <p:nvPr/>
        </p:nvSpPr>
        <p:spPr>
          <a:xfrm>
            <a:off x="5202585" y="4277470"/>
            <a:ext cx="272482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SQLite locked</a:t>
            </a:r>
            <a:endParaRPr lang="en-US" sz="65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16311259-3A99-520C-0385-77F7D8E493B3}"/>
              </a:ext>
            </a:extLst>
          </p:cNvPr>
          <p:cNvSpPr/>
          <p:nvPr/>
        </p:nvSpPr>
        <p:spPr>
          <a:xfrm>
            <a:off x="5202585" y="4466035"/>
            <a:ext cx="272482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failure</a:t>
            </a:r>
            <a:endParaRPr lang="en-US" sz="650" dirty="0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226B31A9-34EF-3D80-0D4A-B7F034CA7EE8}"/>
              </a:ext>
            </a:extLst>
          </p:cNvPr>
          <p:cNvSpPr/>
          <p:nvPr/>
        </p:nvSpPr>
        <p:spPr>
          <a:xfrm>
            <a:off x="5202585" y="4654600"/>
            <a:ext cx="2724820" cy="24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Port already in use</a:t>
            </a:r>
            <a:endParaRPr lang="en-US" sz="65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341E78B2-6B3C-22A7-640E-34834FE11383}"/>
              </a:ext>
            </a:extLst>
          </p:cNvPr>
          <p:cNvSpPr/>
          <p:nvPr/>
        </p:nvSpPr>
        <p:spPr>
          <a:xfrm>
            <a:off x="7604448" y="3710286"/>
            <a:ext cx="59817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Solution</a:t>
            </a:r>
            <a:endParaRPr lang="en-US" sz="650" dirty="0"/>
          </a:p>
        </p:txBody>
      </p:sp>
      <p:sp>
        <p:nvSpPr>
          <p:cNvPr id="91" name="Text 21">
            <a:extLst>
              <a:ext uri="{FF2B5EF4-FFF2-40B4-BE49-F238E27FC236}">
                <a16:creationId xmlns:a16="http://schemas.microsoft.com/office/drawing/2014/main" id="{93BF6970-1634-1D8F-C7F0-DD3CFDA49AFC}"/>
              </a:ext>
            </a:extLst>
          </p:cNvPr>
          <p:cNvSpPr/>
          <p:nvPr/>
        </p:nvSpPr>
        <p:spPr>
          <a:xfrm>
            <a:off x="7604448" y="3898851"/>
            <a:ext cx="59817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 Docker Desktop</a:t>
            </a:r>
            <a:endParaRPr lang="en-US" sz="650" dirty="0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A119818A-6008-6249-E642-489BFC6AF21D}"/>
              </a:ext>
            </a:extLst>
          </p:cNvPr>
          <p:cNvSpPr/>
          <p:nvPr/>
        </p:nvSpPr>
        <p:spPr>
          <a:xfrm>
            <a:off x="7604448" y="4087417"/>
            <a:ext cx="59817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Docker containers are running</a:t>
            </a:r>
            <a:endParaRPr lang="en-US" sz="650" dirty="0"/>
          </a:p>
        </p:txBody>
      </p:sp>
      <p:sp>
        <p:nvSpPr>
          <p:cNvPr id="93" name="Text 25">
            <a:extLst>
              <a:ext uri="{FF2B5EF4-FFF2-40B4-BE49-F238E27FC236}">
                <a16:creationId xmlns:a16="http://schemas.microsoft.com/office/drawing/2014/main" id="{0C292917-A930-1B53-EE72-EB0FE4842A29}"/>
              </a:ext>
            </a:extLst>
          </p:cNvPr>
          <p:cNvSpPr/>
          <p:nvPr/>
        </p:nvSpPr>
        <p:spPr>
          <a:xfrm>
            <a:off x="7604448" y="4275982"/>
            <a:ext cx="59817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Close other database connections</a:t>
            </a:r>
            <a:endParaRPr lang="en-US" sz="650" dirty="0"/>
          </a:p>
        </p:txBody>
      </p:sp>
      <p:sp>
        <p:nvSpPr>
          <p:cNvPr id="94" name="Text 27">
            <a:extLst>
              <a:ext uri="{FF2B5EF4-FFF2-40B4-BE49-F238E27FC236}">
                <a16:creationId xmlns:a16="http://schemas.microsoft.com/office/drawing/2014/main" id="{BF39DF28-97E6-393E-1240-59024462A7BD}"/>
              </a:ext>
            </a:extLst>
          </p:cNvPr>
          <p:cNvSpPr/>
          <p:nvPr/>
        </p:nvSpPr>
        <p:spPr>
          <a:xfrm>
            <a:off x="7604448" y="4464547"/>
            <a:ext cx="59817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credentials in .env file.</a:t>
            </a:r>
            <a:endParaRPr lang="en-US" sz="650" dirty="0"/>
          </a:p>
        </p:txBody>
      </p:sp>
      <p:sp>
        <p:nvSpPr>
          <p:cNvPr id="95" name="Text 29">
            <a:extLst>
              <a:ext uri="{FF2B5EF4-FFF2-40B4-BE49-F238E27FC236}">
                <a16:creationId xmlns:a16="http://schemas.microsoft.com/office/drawing/2014/main" id="{692BF7F4-3079-7B05-A3E4-21F3BD34A6B0}"/>
              </a:ext>
            </a:extLst>
          </p:cNvPr>
          <p:cNvSpPr/>
          <p:nvPr/>
        </p:nvSpPr>
        <p:spPr>
          <a:xfrm>
            <a:off x="7604448" y="4653112"/>
            <a:ext cx="5981700" cy="40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Stop the existing process. </a:t>
            </a:r>
          </a:p>
          <a:p>
            <a:pPr marL="0" indent="0" algn="l">
              <a:lnSpc>
                <a:spcPct val="107000"/>
              </a:lnSpc>
              <a:buNone/>
            </a:pPr>
            <a:r>
              <a:rPr lang="en-US" sz="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Kill -9 $(</a:t>
            </a:r>
            <a:r>
              <a:rPr lang="en-US" sz="5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lsof</a:t>
            </a:r>
            <a:r>
              <a:rPr lang="en-US" sz="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–ti:8000)</a:t>
            </a: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844</Words>
  <Application>Microsoft Macintosh PowerPoint</Application>
  <PresentationFormat>On-screen Show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Poppins</vt:lpstr>
      <vt:lpstr>Consolas</vt:lpstr>
      <vt:lpstr>Twemoji Mozilla</vt:lpstr>
      <vt:lpstr>Instrument Sans Medium</vt:lpstr>
      <vt:lpstr>Azeret Mono</vt:lpstr>
      <vt:lpstr>Instrument Sans Bold</vt:lpstr>
      <vt:lpstr>Instrument Sans SemiBold</vt:lpstr>
      <vt:lpstr>Lato</vt:lpstr>
      <vt:lpstr>Arial</vt:lpstr>
      <vt:lpstr>Calibri</vt:lpstr>
      <vt:lpstr>Consolas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Rishabh Gupta4</cp:lastModifiedBy>
  <cp:revision>3</cp:revision>
  <dcterms:created xsi:type="dcterms:W3CDTF">2026-07-08T11:05:45Z</dcterms:created>
  <dcterms:modified xsi:type="dcterms:W3CDTF">2026-07-08T11:29:45Z</dcterms:modified>
</cp:coreProperties>
</file>